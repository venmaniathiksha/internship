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FC2E43D-2AE6-4CAC-CD39-1EF5FC5E5894}">
          <p14:sldIdLst>
            <p14:sldId id="256"/>
            <p14:sldId id="257"/>
          </p14:sldIdLst>
        </p14:section>
        <p14:section name="Context" id="{F61310F2-4AD7-9D21-7CAB-3210D933C769}">
          <p14:sldIdLst>
            <p14:sldId id="258"/>
            <p14:sldId id="259"/>
            <p14:sldId id="260"/>
          </p14:sldIdLst>
        </p14:section>
        <p14:section name="Data and method" id="{FD1EDE7C-24E3-1A0D-B797-C9530EA41FE1}">
          <p14:sldIdLst>
            <p14:sldId id="261"/>
            <p14:sldId id="262"/>
            <p14:sldId id="263"/>
            <p14:sldId id="264"/>
          </p14:sldIdLst>
        </p14:section>
        <p14:section name="Analysis" id="{ACE771A0-5B2B-14D9-9055-E4A291C8BCF5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odel and wrap-up" id="{B57D33D3-6695-A065-B37E-C47EACFC0281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3C69"/>
                </a:solidFill>
                <a:latin typeface="+mn-lt"/>
              </a:rPr>
              <a:t>Monthly admissions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admissions</c:v>
                </c:pt>
              </c:strCache>
            </c:strRef>
          </c:tx>
          <c:spPr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404</c:v>
                </c:pt>
                <c:pt idx="1">
                  <c:v>364</c:v>
                </c:pt>
                <c:pt idx="2">
                  <c:v>376</c:v>
                </c:pt>
                <c:pt idx="3">
                  <c:v>373</c:v>
                </c:pt>
                <c:pt idx="4">
                  <c:v>381</c:v>
                </c:pt>
                <c:pt idx="5">
                  <c:v>427</c:v>
                </c:pt>
                <c:pt idx="6">
                  <c:v>496</c:v>
                </c:pt>
                <c:pt idx="7">
                  <c:v>485</c:v>
                </c:pt>
                <c:pt idx="8">
                  <c:v>451</c:v>
                </c:pt>
                <c:pt idx="9">
                  <c:v>416</c:v>
                </c:pt>
                <c:pt idx="10">
                  <c:v>390</c:v>
                </c:pt>
                <c:pt idx="11">
                  <c:v>437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F6-43CD-8F0B-F43F47AEC7F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00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3C69"/>
                </a:solidFill>
                <a:latin typeface="+mn-lt"/>
              </a:rPr>
              <a:t>Admissions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 by age group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0-17</c:v>
                </c:pt>
                <c:pt idx="1">
                  <c:v>18-30</c:v>
                </c:pt>
                <c:pt idx="2">
                  <c:v>31-45</c:v>
                </c:pt>
                <c:pt idx="3">
                  <c:v>46-60</c:v>
                </c:pt>
                <c:pt idx="4">
                  <c:v>61-75</c:v>
                </c:pt>
                <c:pt idx="5">
                  <c:v>76+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724</c:v>
                </c:pt>
                <c:pt idx="1">
                  <c:v>645</c:v>
                </c:pt>
                <c:pt idx="2">
                  <c:v>1110</c:v>
                </c:pt>
                <c:pt idx="3">
                  <c:v>1235</c:v>
                </c:pt>
                <c:pt idx="4">
                  <c:v>904</c:v>
                </c:pt>
                <c:pt idx="5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E8-4344-8D8E-451F4C3867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3C69"/>
                </a:solidFill>
                <a:latin typeface="+mn-lt"/>
              </a:rPr>
              <a:t>Admissions by department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 by department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General Medicine</c:v>
                </c:pt>
                <c:pt idx="1">
                  <c:v>Cardiology</c:v>
                </c:pt>
                <c:pt idx="2">
                  <c:v>Orthopedics</c:v>
                </c:pt>
                <c:pt idx="3">
                  <c:v>Emergency</c:v>
                </c:pt>
                <c:pt idx="4">
                  <c:v>Pediatrics</c:v>
                </c:pt>
                <c:pt idx="5">
                  <c:v>Obstetrics</c:v>
                </c:pt>
                <c:pt idx="6">
                  <c:v>Neurology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1336</c:v>
                </c:pt>
                <c:pt idx="1">
                  <c:v>830</c:v>
                </c:pt>
                <c:pt idx="2">
                  <c:v>775</c:v>
                </c:pt>
                <c:pt idx="3">
                  <c:v>765</c:v>
                </c:pt>
                <c:pt idx="4">
                  <c:v>499</c:v>
                </c:pt>
                <c:pt idx="5">
                  <c:v>398</c:v>
                </c:pt>
                <c:pt idx="6">
                  <c:v>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0-4C68-9B7D-1568B09C0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23C69"/>
                </a:solidFill>
                <a:latin typeface="+mn-lt"/>
              </a:rPr>
              <a:t>Average stay (days)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stay (days)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General Medicine</c:v>
                </c:pt>
                <c:pt idx="1">
                  <c:v>Cardiology</c:v>
                </c:pt>
                <c:pt idx="2">
                  <c:v>Orthopedics</c:v>
                </c:pt>
                <c:pt idx="3">
                  <c:v>Emergency</c:v>
                </c:pt>
                <c:pt idx="4">
                  <c:v>Pediatrics</c:v>
                </c:pt>
                <c:pt idx="5">
                  <c:v>Obstetrics</c:v>
                </c:pt>
                <c:pt idx="6">
                  <c:v>Neurology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4.4000000000000004</c:v>
                </c:pt>
                <c:pt idx="1">
                  <c:v>6.5</c:v>
                </c:pt>
                <c:pt idx="2">
                  <c:v>7.5</c:v>
                </c:pt>
                <c:pt idx="3">
                  <c:v>3.5</c:v>
                </c:pt>
                <c:pt idx="4">
                  <c:v>3.2</c:v>
                </c:pt>
                <c:pt idx="5">
                  <c:v>3.3</c:v>
                </c:pt>
                <c:pt idx="6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F1-49AA-8DD9-0771AF2840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23C69"/>
                </a:solidFill>
                <a:latin typeface="+mn-lt"/>
              </a:rPr>
              <a:t>Top 8 diagnoses by admissions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8 diagnoses by admissions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Pneumonia</c:v>
                </c:pt>
                <c:pt idx="1">
                  <c:v>Viral fever</c:v>
                </c:pt>
                <c:pt idx="2">
                  <c:v>Hypertension</c:v>
                </c:pt>
                <c:pt idx="3">
                  <c:v>Joint replacement</c:v>
                </c:pt>
                <c:pt idx="4">
                  <c:v>Delivery</c:v>
                </c:pt>
                <c:pt idx="5">
                  <c:v>Fracture</c:v>
                </c:pt>
                <c:pt idx="6">
                  <c:v>Diabetes</c:v>
                </c:pt>
                <c:pt idx="7">
                  <c:v>Coronary disease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798</c:v>
                </c:pt>
                <c:pt idx="1">
                  <c:v>715</c:v>
                </c:pt>
                <c:pt idx="2">
                  <c:v>600</c:v>
                </c:pt>
                <c:pt idx="3">
                  <c:v>406</c:v>
                </c:pt>
                <c:pt idx="4">
                  <c:v>398</c:v>
                </c:pt>
                <c:pt idx="5">
                  <c:v>369</c:v>
                </c:pt>
                <c:pt idx="6">
                  <c:v>320</c:v>
                </c:pt>
                <c:pt idx="7">
                  <c:v>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0-4C16-B220-AA1983E44F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23C69"/>
                </a:solidFill>
                <a:latin typeface="+mn-lt"/>
              </a:rPr>
              <a:t>Readmission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 by age group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0-17</c:v>
                </c:pt>
                <c:pt idx="1">
                  <c:v>18-30</c:v>
                </c:pt>
                <c:pt idx="2">
                  <c:v>31-45</c:v>
                </c:pt>
                <c:pt idx="3">
                  <c:v>46-60</c:v>
                </c:pt>
                <c:pt idx="4">
                  <c:v>61-75</c:v>
                </c:pt>
                <c:pt idx="5">
                  <c:v>76+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2.2999999999999998</c:v>
                </c:pt>
                <c:pt idx="2">
                  <c:v>3.8</c:v>
                </c:pt>
                <c:pt idx="3">
                  <c:v>6.6</c:v>
                </c:pt>
                <c:pt idx="4">
                  <c:v>13.3</c:v>
                </c:pt>
                <c:pt idx="5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C7-45F2-A7FF-563B12E662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69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23C69"/>
                </a:solidFill>
                <a:latin typeface="+mn-lt"/>
              </a:rPr>
              <a:t>Strongest risk factors (standardised weight)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Strongest risk factors (standardised weight)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31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Age</c:v>
                </c:pt>
                <c:pt idx="1">
                  <c:v>Length of stay</c:v>
                </c:pt>
                <c:pt idx="2">
                  <c:v>Comorbidities</c:v>
                </c:pt>
                <c:pt idx="3">
                  <c:v>Emergency admission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</c:v>
                </c:pt>
                <c:pt idx="1">
                  <c:v>0.43</c:v>
                </c:pt>
                <c:pt idx="2">
                  <c:v>0.35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5-4EA0-BE82-6FF986E96B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77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I am Venmani V. My internship project at Innoknowvex Edutech was Hospital Patient Data Analysis, guided by Mr. D. Kumaresan.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parts, about 25 minutes including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generate large amounts of data every day. Most of it is only used for billing and record keeping. Analysis can support better planning of beds, staff and follow-up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Innoknowvex Edutech is an education and technology company in Bengaluru. The internship ran for one month in four weekly sprints.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 data is stored but not studied. These six objectives guided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a synthetic sample of five thousand inpatient records created for this project, so that no real patient information is used. It has eleven analysis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six stages from raw records to recommendations. Each stage was reviewed with the industrial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quality problems were found in the raw file and fixed. After cleaning we had 5,000 unique, complete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pandas does the data work, scikit-learn builds the model, and Jupyter notebooks keep the analysis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headline figures come from the cleaned dataset of five thousand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Admissions peak in Jul and are lowest in Feb. A mid-year surge suggests seasonal infections and calls for extra staff and beds.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largest groups are 46 to 60 and 31 to 45. Women are 54.7 percent of patients, partly because of obstetric admissions.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Medicine has the most admissions. Neurology and Orthopedics have the longest stays, which ties up beds even though they have fewer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Pneumonia is the most common diagnosis at 16 percent of admissions, followed by viral fever and hypertension. Together the top three cover about two fifths of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38.4 percent of stays are three days or less, but 8.4 percent exceed ten days. Cost follows stay closely with a correlation of 0.95.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30-day readmission is 6.4 percent. Risk rises sharply after age 60 and with three or more comorbidities, where it reaches 21.9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logistic regression model, trained on 4,000 records and tested on 1,000, finds about 69 percent of patients who return. Precision is low because readmission is rare, so it is a screening aid for care teams, not a decision 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recommendations follow from the analysis. The project met all six objectives within the internship. Future work is to apply the same pipeline to real, approved hospital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Hospital Patient Data Analysis  |  Venmani V  |  810023205057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INDUSTRIAL PROJECT WORK /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Patient Data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Turning patient records into insight on admissions, stay and readmission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Venmani V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Register No. 810023205057  |  B.Tech. Information Technology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Industrial Expert: Mr. D. Kumaresan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Innoknowvex Edutech Pvt Ltd, Bengaluru  |  12 June - 12 July 2026</a:t>
            </a:r>
            <a:endParaRPr lang="en-US" sz="1400" dirty="0"/>
          </a:p>
        </p:txBody>
      </p:sp>
      <p:sp>
        <p:nvSpPr>
          <p:cNvPr id="6" name="tile"/>
          <p:cNvSpPr/>
          <p:nvPr/>
        </p:nvSpPr>
        <p:spPr>
          <a:xfrm>
            <a:off x="6309360" y="8229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til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0" y="822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Patients</a:t>
            </a:r>
            <a:endParaRPr lang="en-US" sz="1500" dirty="0"/>
          </a:p>
        </p:txBody>
      </p:sp>
      <p:sp>
        <p:nvSpPr>
          <p:cNvPr id="9" name="tile"/>
          <p:cNvSpPr/>
          <p:nvPr/>
        </p:nvSpPr>
        <p:spPr>
          <a:xfrm>
            <a:off x="6309360" y="17373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til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Stay</a:t>
            </a:r>
            <a:endParaRPr lang="en-US" sz="1500" dirty="0"/>
          </a:p>
        </p:txBody>
      </p:sp>
      <p:sp>
        <p:nvSpPr>
          <p:cNvPr id="12" name="tile"/>
          <p:cNvSpPr/>
          <p:nvPr/>
        </p:nvSpPr>
        <p:spPr>
          <a:xfrm>
            <a:off x="6309360" y="26517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til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834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Outcomes</a:t>
            </a:r>
            <a:endParaRPr lang="en-US" sz="1500" dirty="0"/>
          </a:p>
        </p:txBody>
      </p:sp>
      <p:sp>
        <p:nvSpPr>
          <p:cNvPr id="15" name="tile"/>
          <p:cNvSpPr/>
          <p:nvPr/>
        </p:nvSpPr>
        <p:spPr>
          <a:xfrm>
            <a:off x="6309360" y="356616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tile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749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4088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Insights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594360" y="13578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578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circle"/>
          <p:cNvSpPr/>
          <p:nvPr/>
        </p:nvSpPr>
        <p:spPr>
          <a:xfrm>
            <a:off x="4800600" y="13578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3578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Organization and internship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circle"/>
          <p:cNvSpPr/>
          <p:nvPr/>
        </p:nvSpPr>
        <p:spPr>
          <a:xfrm>
            <a:off x="594360" y="218084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Problem and objectives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66344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circle"/>
          <p:cNvSpPr/>
          <p:nvPr/>
        </p:nvSpPr>
        <p:spPr>
          <a:xfrm>
            <a:off x="4800600" y="218084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2180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Dataset and methodology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45720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circle"/>
          <p:cNvSpPr/>
          <p:nvPr/>
        </p:nvSpPr>
        <p:spPr>
          <a:xfrm>
            <a:off x="594360" y="30038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003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 cleaning and tools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66344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circle"/>
          <p:cNvSpPr/>
          <p:nvPr/>
        </p:nvSpPr>
        <p:spPr>
          <a:xfrm>
            <a:off x="4800600" y="30038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003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2880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Exploratory analysis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45720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circle"/>
          <p:cNvSpPr/>
          <p:nvPr/>
        </p:nvSpPr>
        <p:spPr>
          <a:xfrm>
            <a:off x="594360" y="38267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3826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Predictive model</a:t>
            </a:r>
            <a:endParaRPr lang="en-US" sz="1500" dirty="0"/>
          </a:p>
        </p:txBody>
      </p:sp>
      <p:sp>
        <p:nvSpPr>
          <p:cNvPr id="32" name="card"/>
          <p:cNvSpPr/>
          <p:nvPr/>
        </p:nvSpPr>
        <p:spPr>
          <a:xfrm>
            <a:off x="466344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circle"/>
          <p:cNvSpPr/>
          <p:nvPr/>
        </p:nvSpPr>
        <p:spPr>
          <a:xfrm>
            <a:off x="4800600" y="382676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00600" y="3826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539496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Insights and conclusion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Hospitals record every admission, diagnosis, stay and discharge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data is rarely analysed for planning and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Analysis shows patterns in demand, length of stay and readmission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Findings help managers plan beds, staff and follow-up care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212080" y="118872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534924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774" y="15261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2648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Admission and discharge records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212080" y="228600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5349240" y="24688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774" y="262341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2395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Clean, explore and summarise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212080" y="3383280"/>
            <a:ext cx="34747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5349240" y="356616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774" y="372069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26480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12648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Plan resources, reduce readmissions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and Internship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152613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Innoknowvex Edutech Pvt Ltd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Sb01-no 581/a, Rupena Agrahara, Sector IV, HSR Layout, Bengaluru 560102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6634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month internship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0350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350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weekly sprints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7406640" y="1188720"/>
            <a:ext cx="128016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06640" y="1280160"/>
            <a:ext cx="128016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2180844"/>
            <a:ext cx="10972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industrial expert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  (12 June - 12 July 2026)</a:t>
            </a:r>
            <a:endParaRPr lang="en-US" sz="1800" dirty="0"/>
          </a:p>
        </p:txBody>
      </p:sp>
      <p:sp>
        <p:nvSpPr>
          <p:cNvPr id="19" name="node"/>
          <p:cNvSpPr/>
          <p:nvPr/>
        </p:nvSpPr>
        <p:spPr>
          <a:xfrm>
            <a:off x="457200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1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Problem study, data collection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2377440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node"/>
          <p:cNvSpPr/>
          <p:nvPr/>
        </p:nvSpPr>
        <p:spPr>
          <a:xfrm>
            <a:off x="2542032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2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2542032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Cleaning and preparation</a:t>
            </a:r>
            <a:endParaRPr lang="en-US" sz="1300" dirty="0"/>
          </a:p>
        </p:txBody>
      </p:sp>
      <p:sp>
        <p:nvSpPr>
          <p:cNvPr id="24" name="arrow"/>
          <p:cNvSpPr/>
          <p:nvPr/>
        </p:nvSpPr>
        <p:spPr>
          <a:xfrm>
            <a:off x="4462272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node"/>
          <p:cNvSpPr/>
          <p:nvPr/>
        </p:nvSpPr>
        <p:spPr>
          <a:xfrm>
            <a:off x="4626864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626864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Exploratory analysis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6547104" y="365760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node"/>
          <p:cNvSpPr/>
          <p:nvPr/>
        </p:nvSpPr>
        <p:spPr>
          <a:xfrm>
            <a:off x="6711696" y="3474720"/>
            <a:ext cx="192024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Week 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711696" y="3886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Model, insights, report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347472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Hospitals hold large volumes of patient records but lack simple, repeatable analysis of admissions, length of stay and readmissions, so planning depends on guesswork.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206240" y="118872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ber circle"/>
          <p:cNvSpPr/>
          <p:nvPr/>
        </p:nvSpPr>
        <p:spPr>
          <a:xfrm>
            <a:off x="4297680" y="12618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 and prepare patient records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206240" y="173736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ber circle"/>
          <p:cNvSpPr/>
          <p:nvPr/>
        </p:nvSpPr>
        <p:spPr>
          <a:xfrm>
            <a:off x="4297680" y="18105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737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admission and demographic patterns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206240" y="228600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ber circle"/>
          <p:cNvSpPr/>
          <p:nvPr/>
        </p:nvSpPr>
        <p:spPr>
          <a:xfrm>
            <a:off x="4297680" y="235915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2286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departments and diagnoses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206240" y="283464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circle"/>
          <p:cNvSpPr/>
          <p:nvPr/>
        </p:nvSpPr>
        <p:spPr>
          <a:xfrm>
            <a:off x="4297680" y="290779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9768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2834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Study length of stay and cost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206240" y="338328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ber circle"/>
          <p:cNvSpPr/>
          <p:nvPr/>
        </p:nvSpPr>
        <p:spPr>
          <a:xfrm>
            <a:off x="4297680" y="34564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9768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3832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 readmission risk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206240" y="3931920"/>
            <a:ext cx="448056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ber circle"/>
          <p:cNvSpPr/>
          <p:nvPr/>
        </p:nvSpPr>
        <p:spPr>
          <a:xfrm>
            <a:off x="4297680" y="40050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9768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9319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Give actionable recommendations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828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82419"/>
            <a:ext cx="16459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patient records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57200" y="2651760"/>
            <a:ext cx="18288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743200"/>
            <a:ext cx="1828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45459"/>
            <a:ext cx="16459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fields per record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Synthetic data: no real patient information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0" y="1188720"/>
          <a:ext cx="6126480" cy="34564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age, gender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 / category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Patient demographics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department, diagnosis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Admitting unit and main condition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admit_month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Month of admission (1-12)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los_days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Length of stay in days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comorbidities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 of other conditions (0-5)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emergency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Emergency admission (1) or planned (0)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bmi, cost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Numeric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Body mass index and treatment cost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readmitted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Binary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Readmitted within 30 days (target)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5,042 raw rows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64408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447288" y="13716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934" y="15142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47288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Clean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47288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Fix gaps and errors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071616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254496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151424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54496" y="2011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Prepare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254496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Encode and scale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329732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Explore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Charts and statistics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3264408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3447288" y="3154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9934" y="32973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47288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Model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47288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Predict readmission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071616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6254496" y="31546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142" y="329732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54496" y="3794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Report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254496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Insights and advice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Preparation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887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1887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duplicate records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Removed by patient ID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57200" y="205740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0574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574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missing BMI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Filled with the median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292608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26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260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missing gender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Filled with the most common value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794760"/>
            <a:ext cx="512064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94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79476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stays above 45 days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Treated as errors, set to median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5852160" y="1188720"/>
            <a:ext cx="283464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128016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5,042 to 5,000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2095805"/>
            <a:ext cx="265176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rows before and after cleaning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 grouped into 6 bands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Categories one-hot encoded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Numbers standardised for the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Core language for analysis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64408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47288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447288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Cleaning, grouping, statistics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71616" y="118872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54496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54496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Exploratory charts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Logistic regression model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3264408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47288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447288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Reproducible workflow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071616" y="2651760"/>
            <a:ext cx="2624328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54496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/ GitHub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254496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Version control and review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Privacy by design: only anonymous, synthetic records were used.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 at a Glance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admissions analysed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64408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64408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44.5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55848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average age (years)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071616" y="118872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71616" y="128016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days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163056" y="218084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average length of stay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30-day readmission rate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3264408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64408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30.7%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3355848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emergency admissions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071616" y="2971800"/>
            <a:ext cx="2624328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71616" y="3063240"/>
            <a:ext cx="262432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32,100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6163056" y="3963924"/>
            <a:ext cx="24414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average cost per stay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by Month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32918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Peak: Jul (496)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Low: Feb (364)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Jun to Sep is the busiest period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 leave and beds around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by Age Group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0" y="128016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54.7%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039112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female patients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2743200"/>
            <a:ext cx="24688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283464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44.5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3593592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average age in years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Analysis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143000"/>
          <a:ext cx="3931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Diagnoses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6217920" y="1188720"/>
            <a:ext cx="2468880" cy="329184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Respiratory and fever cases lead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Chronic: hypertension, diabetes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Surgical: joint, fracture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Ready stock for top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of Stay and Cost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38.4%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stays of 3 days or less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stays over 10 days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280160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correlation: stay vs cost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extra day of stay adds almost the same amount to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small group of long stays uses a large share of beds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Reducing delays in discharge is the quickest saving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Analysis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4300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d"/>
          <p:cNvSpPr/>
          <p:nvPr/>
        </p:nvSpPr>
        <p:spPr>
          <a:xfrm>
            <a:off x="5852160" y="118872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852160" y="1280160"/>
            <a:ext cx="28346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 vs 21.9%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943600" y="1840687"/>
            <a:ext cx="265176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0 vs 3+ comorbidities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852160" y="2377440"/>
            <a:ext cx="28346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52160" y="2468880"/>
            <a:ext cx="28346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 vs 5.7%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3029407"/>
            <a:ext cx="2651760" cy="347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emergency vs planned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5852160" y="356616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52160" y="3657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 vs 5.4%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4133088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male vs female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Readmission Risk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572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recall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1874520" y="118872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28016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192572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ROC AUC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251460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0604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69.2%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5160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accuracy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1874520" y="2514600"/>
            <a:ext cx="13258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74520" y="2606040"/>
            <a:ext cx="1325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965960" y="3251606"/>
            <a:ext cx="114300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Logistic regression, 4,000 train / 1,000 test, balanced classes. Low precision reflects a 6.4% base rate.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474720" y="1143000"/>
          <a:ext cx="52120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and Conclusion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staff and beds for Jun to Sep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Fast-track discharge to cut long stays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Follow-up calls for age 60+ and 3+ comorbidities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Review Neurology and Orthopedics bed use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1800" dirty="0"/>
          </a:p>
        </p:txBody>
      </p:sp>
      <p:sp>
        <p:nvSpPr>
          <p:cNvPr id="8" name="icon circle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77667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645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six objectives met in one month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250819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2377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Repeat on real, approved hospital data</a:t>
            </a:r>
            <a:endParaRPr lang="en-US" sz="1400" dirty="0"/>
          </a:p>
        </p:txBody>
      </p:sp>
      <p:sp>
        <p:nvSpPr>
          <p:cNvPr id="14" name="icon circle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323971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53212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dashboard for managers</a:t>
            </a:r>
            <a:endParaRPr lang="en-US" sz="1400" dirty="0"/>
          </a:p>
        </p:txBody>
      </p:sp>
      <p:sp>
        <p:nvSpPr>
          <p:cNvPr id="17" name="icon circle"/>
          <p:cNvSpPr/>
          <p:nvPr/>
        </p:nvSpPr>
        <p:spPr>
          <a:xfrm>
            <a:off x="4846320" y="3840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079" y="397123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32120" y="3840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privacy and access controls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7A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Venmani V  |  810023205057 |  B.Tech. Information Technology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Industrial Expert: Mr. D. Kumaresan  |  Innoknowvex Edutech Pvt Ltd, Bengaluru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pital Patient Data Analysis">
  <a:themeElements>
    <a:clrScheme name="Hospital Patient Data Analysis">
      <a:dk1>
        <a:srgbClr val="1B2A31"/>
      </a:dk1>
      <a:lt1>
        <a:srgbClr val="FFFFFF"/>
      </a:lt1>
      <a:dk2>
        <a:srgbClr val="123C69"/>
      </a:dk2>
      <a:lt2>
        <a:srgbClr val="EAF1F7"/>
      </a:lt2>
      <a:accent1>
        <a:srgbClr val="1B998B"/>
      </a:accent1>
      <a:accent2>
        <a:srgbClr val="F2B134"/>
      </a:accent2>
      <a:accent3>
        <a:srgbClr val="6FC3DF"/>
      </a:accent3>
      <a:accent4>
        <a:srgbClr val="E4572E"/>
      </a:accent4>
      <a:accent5>
        <a:srgbClr val="7C93A6"/>
      </a:accent5>
      <a:accent6>
        <a:srgbClr val="4A6FA5"/>
      </a:accent6>
      <a:hlink>
        <a:srgbClr val="1B998B"/>
      </a:hlink>
      <a:folHlink>
        <a:srgbClr val="4A6FA5"/>
      </a:folHlink>
    </a:clrScheme>
    <a:fontScheme name="Hospital Patient Data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1372</Words>
  <Application>Microsoft Office PowerPoint</Application>
  <PresentationFormat>On-screen Show (16:9)</PresentationFormat>
  <Paragraphs>287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Hospital Patient Data Analysis</vt:lpstr>
      <vt:lpstr>PowerPoint Presentation</vt:lpstr>
      <vt:lpstr>Agenda</vt:lpstr>
      <vt:lpstr>Introduction</vt:lpstr>
      <vt:lpstr>Organization and Internship</vt:lpstr>
      <vt:lpstr>Problem Statement and Objectives</vt:lpstr>
      <vt:lpstr>Dataset Overview</vt:lpstr>
      <vt:lpstr>Methodology</vt:lpstr>
      <vt:lpstr>Data Cleaning and Preparation</vt:lpstr>
      <vt:lpstr>Tools and Technology</vt:lpstr>
      <vt:lpstr>Key Figures at a Glance</vt:lpstr>
      <vt:lpstr>Admissions by Month</vt:lpstr>
      <vt:lpstr>Patients by Age Group</vt:lpstr>
      <vt:lpstr>Department-wise Analysis</vt:lpstr>
      <vt:lpstr>Common Diagnoses</vt:lpstr>
      <vt:lpstr>Length of Stay and Cost</vt:lpstr>
      <vt:lpstr>Readmission Analysis</vt:lpstr>
      <vt:lpstr>Predicting Readmission Risk</vt:lpstr>
      <vt:lpstr>Insights and Conclusion</vt:lpstr>
      <vt:lpstr>PowerPoint Presentation</vt:lpstr>
    </vt:vector>
  </TitlesOfParts>
  <Company>Innoknowvex Edutech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Patient Data Analysis</dc:title>
  <dc:subject>PptxGenJS Presentation</dc:subject>
  <dc:creator>Venmani V</dc:creator>
  <cp:lastModifiedBy>Venmani V</cp:lastModifiedBy>
  <cp:revision>3</cp:revision>
  <dcterms:created xsi:type="dcterms:W3CDTF">2026-10-21T09:20:04Z</dcterms:created>
  <dcterms:modified xsi:type="dcterms:W3CDTF">2026-10-21T09:29:33Z</dcterms:modified>
</cp:coreProperties>
</file>